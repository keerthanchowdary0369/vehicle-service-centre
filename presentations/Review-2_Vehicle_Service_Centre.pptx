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(Week 11): normalized database up to 3NF, DDL with constraints, sample data and SQL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294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19050">
            <a:solidFill>
              <a:srgbClr val="12294A"/>
            </a:solidFill>
            <a:prstDash val="solid"/>
          </a:ln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2294A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2294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914400"/>
            <a:ext cx="64008" cy="3291840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solidFill>
            <a:srgbClr val="1229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</a:rPr>
              <a:t>REVIEW 2 DELIVERABLE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294A"/>
                </a:solidFill>
              </a:rPr>
              <a:t>Vehicle Service Centre DBMS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B5563"/>
                </a:solidFill>
              </a:rPr>
              <a:t>3NF Normalization, DDL with Constraints, Sample Data &amp; SQL Queries (Project 10)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Normalization to Third Normal Form</a:t>
            </a:r>
            <a:endParaRPr lang="en-US" sz="2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3017520"/>
                <a:gridCol w="43891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FORM</a:t>
                      </a:r>
                      <a:endParaRPr lang="en-US" sz="9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RULE APPLIED</a:t>
                      </a:r>
                      <a:endParaRPr lang="en-US" sz="9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OUTCOME IN THIS PROJECT</a:t>
                      </a:r>
                      <a:endParaRPr lang="en-US" sz="9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UNF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One job sheet holds customer, vehicle, tasks and parts together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Repeating groups of tasks and parts; customer and vehicle data repeated on every visit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1NF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Atomic values, no repeating groups, every row uniquely identified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Each task and each part becomes its own row; every table gets a primary key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2NF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 partial dependency on part of a composite key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Customer details depend on CustomerID, vehicle on RegNo, part price on PartID, task rate on TaskID, so each moves to its own table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3NF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 transitive dependency between non-key attributes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Booking holds only RegNo (not owner details); M:N links resolved by Assignment and Part_Usage; invoice totals reference JobCardID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8A"/>
                </a:solidFill>
              </a:rPr>
              <a:t>Design note: </a:t>
            </a:r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BilledUnitPrice in Part_Usage is a deliberate historical snapshot of the price at billing time, not a redundancy, so later price changes never alter past invoices.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Final Relational Schema (3NF)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560320"/>
                <a:gridCol w="246888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PRIMARY KEY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FOREIGN KEYS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CONSTRAINTS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CUSTOMER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CustomerID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Phone UNIQUE NOT NULL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VEHICLE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RegNo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CustomerID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FuelType CHECK, MfgYear CHECK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SERVICE_BOOKING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BookingID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RegNo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Status CHECK, UNIQUE slot per vehicle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JOB_CARD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JobCardID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BookingID (UNIQUE)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DateOut &gt;= DateIn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MECHANIC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MechanicID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Phone UNIQUE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TASK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TaskID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LaborRate &gt;= 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ASSIGNMENT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AssignmentID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JobCardID, TaskID, MechanicID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EndTime &gt; StartTime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SPARE_PART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PartID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None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StockQty &gt;= 0, UnitPrice &gt; 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PART_USAGE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UsageID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JobCardID, PartID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Quantity &gt; 0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2222"/>
                          </a:solidFill>
                        </a:rPr>
                        <a:t>INVOICE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InvoiceID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JobCardID (UNIQUE)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22222"/>
                          </a:solidFill>
                        </a:rPr>
                        <a:t>1:1 with job card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DDL: Customer &amp; Vehicle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VARCHAR(60)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CHAR(10)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VARCHAR(80)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Address VARCHAR(150)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Vehicle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RegNo      VARCHAR(12)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Make       VARCHAR(30)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Model      VARCHAR(30)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MfgYear    INT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(MfgYear BETWEEN 1990 AND 2030),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FuelType   VARCHAR(10) CHECK (FuelType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('Petrol','Diesel','CNG','Electric')),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(CustomerID)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Customer(CustomerID)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CASCADE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Phone and Email are UNIQUE. ON DELETE CASCADE removes a customer's vehicles when the customer is deleted. RegNo is the natural primary key of Vehicle.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DDL: Service Booking &amp; Job Card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Service_Booking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BookingID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RegNo       VARCHAR(12)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BookingDate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SlotTime    TIME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VARCHAR(12) DEFAULT 'Booked'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(Status IN ('Booked','Checked-In',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'Completed','Cancelled')),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(RegNo, BookingDate, SlotTime),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(RegNo) REFERENCES Vehicle(RegNo)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Job_Card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JobCardID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BookingID INT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DateIn    DATE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DateOut   DATE,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JobStatus VARCHAR(12) DEFAULT 'Open'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(JobStatus 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('Open','In Progress','Closed')),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(DateOut IS NULL OR DateOut &gt;= DateIn),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(BookingID)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Service_Booking(BookingID)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UNIQUE (RegNo, BookingDate, SlotTime) blocks double-booking a vehicle in the same slot. UNIQUE on Job_Card.BookingID enforces the 1:1 link between a booking and its job card.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DDL: Mechanic, Task &amp; Assignment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Mechanic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MechanicID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   VARCHAR(60)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Specialization VARCHAR(40),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    CHAR(10) UNIQUE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Task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TaskID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TaskName  VARCHAR(60)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LaborRate DECIMAL(8,2) CHECK (LaborRate &gt;= 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Assignment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AssignmentID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JobCardID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TaskID 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MechanicID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StartTime  DATETIME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EndTime    DATETIME,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VARCHAR(12) DEFAULT 'Assigned',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(EndTime IS NULL OR EndTime &gt; StartTime),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(JobCardID)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Job_Card(JobCardID),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(TaskID) REFERENCES Task(TaskID),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(MechanicID)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Mechanic(MechanicID)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Assignment resolves the M:N link between job cards, tasks and mechanics. The CHECK ensures a task always ends after it starts.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DDL: Spare Parts, Usage &amp; Invoice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Spare_Part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PartID 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PartName  VARCHAR(60)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UnitPrice DECIMAL(8,2) CHECK (UnitPrice &gt;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StockQty  INT NOT NULL DEFAULT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CHECK (StockQty &gt;=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ReorderLevel INT DEFAULT 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Part_Usage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UsageID 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JobCardID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PartID    INT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Quantity  INT NOT NULL CHECK (Quantity &gt; 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BilledUnitPrice DECIMAL(8,2)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(JobCardID)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Job_Card(JobCardID),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(PartID)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Spare_Part(PartID)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Invoice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InvoiceID  INT AUTO_INCREMENT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JobCardID  INT NOT NULL UNIQUE,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LaborTotal DECIMAL(10,2)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PartsTotal DECIMAL(10,2)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NetAmount  DECIMAL(10,2)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PaymentStatus VARCHAR(10) DEFAULT 'Unpaid',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(JobCardID)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REFERENCES Job_Card(JobCardID)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Part_Usage resolves the M:N link between job cards and parts; BilledUnitPrice stores the price at billing time. Invoice is 1:1 with Job_Card through a UNIQUE foreign key.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Sample Data (1/2): Customers &amp; Bookings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Customer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(Name, Phone, Email, Address)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('Ravi Kumar','9876543210',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'ravi@mail.com','Madhapur'),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('Anita Rao','9123456780',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'anita@mail.com','Gachibowli'),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('Suresh Reddy','9988776655',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'suresh@mail.com','Kukatpally');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Vehicle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('TS09AB1234',1,'Honda','City',2019,'Petrol'),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('TS08CD5678',2,'Hyundai','Creta',2021,'Diesel'),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('TS10EF9012',1,'Maruti','Swift',2017,'Petrol');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Service_Booking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(RegNo, BookingDate, SlotTime, Status)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('TS09AB1234','2026-10-05','10:00','Checked-In'),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('TS08CD5678','2026-10-06','11:30','Booked'),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('TS10EF9012','2026-09-20','09:30','Completed');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Job_Card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(BookingID, DateIn, DateOut, JobStatus)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(1,'2026-10-05',NULL,'In Progress'),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(3,'2026-09-20','2026-09-22','Closed');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Sample set: 3 customers, 3 vehicles, 3 bookings (one completed) and 2 job cards (one in progress, one closed).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Sample Data (2/2): Work, Parts &amp; Billing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Mechanic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(Name, Specialization, Phone)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('Imran Khan','Engine','9000011111'),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('Prakash','Electrical','9000022222');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Task (TaskName, LaborRate) 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('Oil Change',300),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('Brake Pad Replacement',800),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('Battery Check',200);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Assignment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(JobCardID,TaskID,MechanicID,StartTime,EndTime)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(1,1,1,'2026-10-05 10:15','2026-10-05 10:45'),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(1,2,1,'2026-10-05 11:00','2026-10-05 12:00');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Spare_Part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(PartName,UnitPrice,StockQty,ReorderLevel)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('Engine Oil 1L',450,40,10),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('Brake Pad Set',1800,3,5),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('Air Filter',350,12,5);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Part_Usage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(JobCardID,PartID,Quantity,BilledUnitPrice)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(1,1,4,450),(1,2,1,1800);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invoice for the closed job card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Invoice (JobCardID,LaborTotal,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PartsTotal,NetAmount,PaymentStatus)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(2,300,450,885,'Paid');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Insert in this order so foreign keys are satisfied: Customer, Vehicle, Service_Booking, Job_Card, Mechanic, Task, Assignment, Spare_Part, Part_Usage, Invoice.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SQL Queries (1/3): Lookups &amp; Joins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Q1. Vehicles with their owners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c.Name, v.RegNo, v.Make, v.Model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 v ON v.CustomerID = c.CustomerID;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Q2. Parts at or below reorder 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PartName, StockQty, ReorderLevel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Spare_Part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StockQty &lt;= ReorderLevel;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Q3. Customers who never booked a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c.Name FROM Customer 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EXISTS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1 FROM Vehicle v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Service_Booking b ON b.RegNo = v.RegNo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v.CustomerID = c.CustomerID);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Q4. Live work: task, mechanic, vehicle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j.JobCardID, v.RegNo, t.TaskName,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m.Name AS Mechanic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Job_Card j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Service_Booking b ON b.BookingID = j.BookingID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 v    ON v.RegNo = b.RegNo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Assignment a ON a.JobCardID = j.JobCardID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Task t       ON t.TaskID = a.TaskID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Mechanic m   ON m.MechanicID = a.MechanicID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j.JobStatus = 'In Progress';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Expected with the sample data: Q1 returns 3 rows. Q2 returns Brake Pad Set. Q3 returns Suresh Reddy. Q4 returns the two tasks on job card 1.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SQL Queries (2/3): Aggregation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Q5. Bookings for a given 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b.SlotTime, v.RegNo, c.Name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Service_Booking 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 v ON v.RegNo = b.RegNo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 c ON c.CustomerID = v.CustomerID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b.BookingDate = '2026-10-06'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b.SlotTime;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Q6. Parts total per job card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JobCardID,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SUM(Quantity * BilledUnitPrice) AS PartsTotal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Part_Usage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JobCardID;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Q7. Mechanic workload (hours)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m.Name, COUNT(*) AS Tasks,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ROUND(SUM(TIMESTAMPDIFF(MINUTE,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a.StartTime, a.EndTime)) / 60, 1) AS Hours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Mechanic 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Assignment a ON a.MechanicID = m.MechanicID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m.MechanicID, m.Name;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Q8. Monthly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DATE_FORMAT(j.DateOut, '%Y-%m') AS Month,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SUM(i.NetAmount) AS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Invoice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Job_Card j ON j.JobCardID = i.JobCardID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j.DateOut IS NOT NULL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Month;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Expected: Q5 returns 11:30, TS08CD5678, Anita Rao. Q6 returns job card 1 with 3600. Q7 returns Imran Khan, 2 tasks, 1.5 hours. Q8 returns 2026-09 with 885.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SQL Queries (3/3): Billing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Q9. Generate invoice for job card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(labor + parts, 18% GST assumed)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Invoice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(JobCardID, LaborTotal, PartsTotal, NetAmount)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1, L.amt, P.amt, (L.amt + P.amt) * 1.18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(SELECT IFNULL(SUM(t.LaborRate), 0) AS amt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 Assignment 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JOIN Task t ON t.TaskID = a.TaskID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a.JobCardID = 1) 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(SELECT IFNULL(SUM(Quantity *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BilledUnitPrice), 0) AS amt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FROM Part_Usage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WHERE JobCardID = 1) P;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4206240" cy="33375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709160" y="1051560"/>
            <a:ext cx="40233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Q10. Unpaid invoices with customer name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i.InvoiceID, c.Name, i.NetAmount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Invoice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Job_Card j ON j.JobCardID = i.JobCardID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Service_Booking b ON b.BookingID = j.BookingID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Vehicle v ON v.RegNo = b.RegNo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Customer c ON c.CustomerID = v.CustomerID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i.PaymentStatus = 'Unpaid';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Expected: Q9 adds an invoice with NetAmount 5546.00, which is (1100 + 3600) x 1.18. Q10 then returns invoice 2, Ravi Kumar, 5546.00.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400" b="1" dirty="0">
                <a:solidFill>
                  <a:srgbClr val="12294A"/>
                </a:solidFill>
              </a:rPr>
              <a:t>Integrity Enforcement &amp; Stock Trigger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5661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54864" cy="841248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088136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8A"/>
                </a:solidFill>
              </a:rPr>
              <a:t>PRIMARY KEY / UNIQUE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Unique IDs, phone, email, one job card per booking, one invoice per job card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93392"/>
            <a:ext cx="35661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93392"/>
            <a:ext cx="54864" cy="841248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29968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8A"/>
                </a:solidFill>
              </a:rPr>
              <a:t>FOREIGN KEY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Referential integrity from vehicle to customer through to invoice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35224"/>
            <a:ext cx="35661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935224"/>
            <a:ext cx="54864" cy="841248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971800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8A"/>
                </a:solidFill>
              </a:rPr>
              <a:t>CHECK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Valid status values, non-negative stock, positive quantity, valid date and time order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77056"/>
            <a:ext cx="3566160" cy="841248"/>
          </a:xfrm>
          <a:prstGeom prst="rect">
            <a:avLst/>
          </a:prstGeom>
          <a:solidFill>
            <a:srgbClr val="F4F6F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77056"/>
            <a:ext cx="54864" cy="841248"/>
          </a:xfrm>
          <a:prstGeom prst="rect">
            <a:avLst/>
          </a:prstGeom>
          <a:solidFill>
            <a:srgbClr val="A07A3A"/>
          </a:solidFill>
          <a:ln w="12700">
            <a:solidFill>
              <a:srgbClr val="A07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913632"/>
            <a:ext cx="3291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8A"/>
                </a:solidFill>
              </a:rPr>
              <a:t>NOT NULL / DEFAULT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</a:rPr>
              <a:t>Mandatory fields and default statuses such as Booked, Open and Unpaid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06240" y="1051560"/>
            <a:ext cx="4480560" cy="370332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97680" y="1097280"/>
            <a:ext cx="429768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TRIGGER trg_deduct_stock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 INSERT ON Part_Usage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DECLARE stock INT;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StockQty INTO stock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Spare_Part WHERE PartID = NEW.PartID;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stock &lt; NEW.Quantity THEN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SIGNAL SQLSTATE '45000'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SET MESSAGE_TEXT = 'Insufficient stock';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IF;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 Spare_Part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 StockQty = StockQty - NEW.Quantity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PartID = NEW.PartID;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 NEW.BilledUnitPrice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(SELECT UnitPrice FROM Spare_Part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WHERE PartID = NEW.PartID);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END//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294A"/>
                </a:solidFill>
              </a:rPr>
              <a:t>Review 2 Deliverable Complete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</a:rPr>
              <a:t>3NF Schema, DDL with Constraints, Sample Data &amp; SQL Queries Finalized.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8A"/>
                </a:solidFill>
              </a:rPr>
              <a:t>Thank You — Questions &amp; Feedback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2026-10-04T13:02:16Z</dcterms:created>
  <dcterms:modified xsi:type="dcterms:W3CDTF">2026-10-04T13:02:16Z</dcterms:modified>
</cp:coreProperties>
</file>